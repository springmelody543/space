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62" r:id="rId2"/>
    <p:sldId id="282" r:id="rId3"/>
    <p:sldId id="265" r:id="rId4"/>
    <p:sldId id="283" r:id="rId5"/>
    <p:sldId id="266" r:id="rId6"/>
    <p:sldId id="284" r:id="rId7"/>
    <p:sldId id="285" r:id="rId8"/>
    <p:sldId id="286" r:id="rId9"/>
    <p:sldId id="277" r:id="rId10"/>
    <p:sldId id="287" r:id="rId11"/>
    <p:sldId id="288" r:id="rId12"/>
    <p:sldId id="272" r:id="rId13"/>
    <p:sldId id="289" r:id="rId14"/>
  </p:sldIdLst>
  <p:sldSz cx="13444538" cy="7562850"/>
  <p:notesSz cx="10693400" cy="756285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oboto" panose="020B0604020202020204" charset="0"/>
      <p:regular r:id="rId20"/>
      <p:bold r:id="rId21"/>
      <p:italic r:id="rId22"/>
      <p:boldItalic r:id="rId23"/>
    </p:embeddedFont>
    <p:embeddedFont>
      <p:font typeface="Microsoft Sans Serif" panose="020B0604020202020204" pitchFamily="34" charset="0"/>
      <p:regular r:id="rId24"/>
    </p:embeddedFont>
    <p:embeddedFont>
      <p:font typeface="Roboto Light" panose="020B0604020202020204" charset="0"/>
      <p:regular r:id="rId25"/>
      <p:italic r:id="rId26"/>
    </p:embeddedFon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Roboto Medium" panose="020B0604020202020204" charset="0"/>
      <p:regular r:id="rId31"/>
      <p:italic r:id="rId3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4" userDrawn="1">
          <p15:clr>
            <a:srgbClr val="A4A3A4"/>
          </p15:clr>
        </p15:guide>
        <p15:guide id="2" pos="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AA"/>
    <a:srgbClr val="009AAA"/>
    <a:srgbClr val="4A3485"/>
    <a:srgbClr val="EDD902"/>
    <a:srgbClr val="EB6427"/>
    <a:srgbClr val="8B2749"/>
    <a:srgbClr val="EF6528"/>
    <a:srgbClr val="A34E46"/>
    <a:srgbClr val="2F385A"/>
    <a:srgbClr val="4D30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38" autoAdjust="0"/>
    <p:restoredTop sz="94704"/>
  </p:normalViewPr>
  <p:slideViewPr>
    <p:cSldViewPr>
      <p:cViewPr varScale="1">
        <p:scale>
          <a:sx n="75" d="100"/>
          <a:sy n="75" d="100"/>
        </p:scale>
        <p:origin x="1046" y="67"/>
      </p:cViewPr>
      <p:guideLst>
        <p:guide orient="horz" pos="3924"/>
        <p:guide pos="8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A63B0-321D-4715-A21E-320B1975CCE6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6150"/>
            <a:ext cx="45339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BF4E0-AE20-4252-9711-9E35CB6EC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65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8342" y="2344483"/>
            <a:ext cx="1142785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6682" y="4235198"/>
            <a:ext cx="941117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1825" y="4610102"/>
            <a:ext cx="6660890" cy="553998"/>
          </a:xfrm>
        </p:spPr>
        <p:txBody>
          <a:bodyPr lIns="0" tIns="0" rIns="0" bIns="0"/>
          <a:lstStyle>
            <a:lvl1pPr>
              <a:defRPr sz="3600" b="1" i="0">
                <a:solidFill>
                  <a:srgbClr val="005AA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1825" y="4610102"/>
            <a:ext cx="6660890" cy="553998"/>
          </a:xfrm>
        </p:spPr>
        <p:txBody>
          <a:bodyPr lIns="0" tIns="0" rIns="0" bIns="0"/>
          <a:lstStyle>
            <a:lvl1pPr>
              <a:defRPr sz="3600" b="1" i="0">
                <a:solidFill>
                  <a:srgbClr val="005AA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92194" y="1730915"/>
            <a:ext cx="5032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265480" y="1662919"/>
            <a:ext cx="4115593" cy="369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1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271933" y="2416343"/>
            <a:ext cx="2898950" cy="1729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4483338" y="746417"/>
            <a:ext cx="4476104" cy="14690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1825" y="4610102"/>
            <a:ext cx="6660890" cy="553998"/>
          </a:xfrm>
        </p:spPr>
        <p:txBody>
          <a:bodyPr lIns="0" tIns="0" rIns="0" bIns="0"/>
          <a:lstStyle>
            <a:lvl1pPr>
              <a:defRPr sz="3600" b="1" i="0">
                <a:solidFill>
                  <a:srgbClr val="005AA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1825" y="4610101"/>
            <a:ext cx="666089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5AA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4266" y="2932920"/>
            <a:ext cx="1123600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80067" y="7033452"/>
            <a:ext cx="309224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26">
        <a:defRPr>
          <a:latin typeface="+mn-lt"/>
          <a:ea typeface="+mn-ea"/>
          <a:cs typeface="+mn-cs"/>
        </a:defRPr>
      </a:lvl2pPr>
      <a:lvl3pPr marL="914451">
        <a:defRPr>
          <a:latin typeface="+mn-lt"/>
          <a:ea typeface="+mn-ea"/>
          <a:cs typeface="+mn-cs"/>
        </a:defRPr>
      </a:lvl3pPr>
      <a:lvl4pPr marL="1371678">
        <a:defRPr>
          <a:latin typeface="+mn-lt"/>
          <a:ea typeface="+mn-ea"/>
          <a:cs typeface="+mn-cs"/>
        </a:defRPr>
      </a:lvl4pPr>
      <a:lvl5pPr marL="1828903">
        <a:defRPr>
          <a:latin typeface="+mn-lt"/>
          <a:ea typeface="+mn-ea"/>
          <a:cs typeface="+mn-cs"/>
        </a:defRPr>
      </a:lvl5pPr>
      <a:lvl6pPr marL="2286129">
        <a:defRPr>
          <a:latin typeface="+mn-lt"/>
          <a:ea typeface="+mn-ea"/>
          <a:cs typeface="+mn-cs"/>
        </a:defRPr>
      </a:lvl6pPr>
      <a:lvl7pPr marL="2743354">
        <a:defRPr>
          <a:latin typeface="+mn-lt"/>
          <a:ea typeface="+mn-ea"/>
          <a:cs typeface="+mn-cs"/>
        </a:defRPr>
      </a:lvl7pPr>
      <a:lvl8pPr marL="3200581">
        <a:defRPr>
          <a:latin typeface="+mn-lt"/>
          <a:ea typeface="+mn-ea"/>
          <a:cs typeface="+mn-cs"/>
        </a:defRPr>
      </a:lvl8pPr>
      <a:lvl9pPr marL="365780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6">
        <a:defRPr>
          <a:latin typeface="+mn-lt"/>
          <a:ea typeface="+mn-ea"/>
          <a:cs typeface="+mn-cs"/>
        </a:defRPr>
      </a:lvl2pPr>
      <a:lvl3pPr marL="914451">
        <a:defRPr>
          <a:latin typeface="+mn-lt"/>
          <a:ea typeface="+mn-ea"/>
          <a:cs typeface="+mn-cs"/>
        </a:defRPr>
      </a:lvl3pPr>
      <a:lvl4pPr marL="1371678">
        <a:defRPr>
          <a:latin typeface="+mn-lt"/>
          <a:ea typeface="+mn-ea"/>
          <a:cs typeface="+mn-cs"/>
        </a:defRPr>
      </a:lvl4pPr>
      <a:lvl5pPr marL="1828903">
        <a:defRPr>
          <a:latin typeface="+mn-lt"/>
          <a:ea typeface="+mn-ea"/>
          <a:cs typeface="+mn-cs"/>
        </a:defRPr>
      </a:lvl5pPr>
      <a:lvl6pPr marL="2286129">
        <a:defRPr>
          <a:latin typeface="+mn-lt"/>
          <a:ea typeface="+mn-ea"/>
          <a:cs typeface="+mn-cs"/>
        </a:defRPr>
      </a:lvl6pPr>
      <a:lvl7pPr marL="2743354">
        <a:defRPr>
          <a:latin typeface="+mn-lt"/>
          <a:ea typeface="+mn-ea"/>
          <a:cs typeface="+mn-cs"/>
        </a:defRPr>
      </a:lvl7pPr>
      <a:lvl8pPr marL="3200581">
        <a:defRPr>
          <a:latin typeface="+mn-lt"/>
          <a:ea typeface="+mn-ea"/>
          <a:cs typeface="+mn-cs"/>
        </a:defRPr>
      </a:lvl8pPr>
      <a:lvl9pPr marL="365780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.guap.ru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ms.guap.ru/new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.guap.ru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ms.guap.ru/new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.guap.ru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ms.guap.ru/new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dek4gast@guap.ru" TargetMode="External"/><Relationship Id="rId2" Type="http://schemas.openxmlformats.org/officeDocument/2006/relationships/hyperlink" Target="mailto:dek4@guap.ru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t.me/+AkWGtD9YjYBiODU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s://t.me/+bZ7_EZsDlnAxN2Ey" TargetMode="Externa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противолежащие углы 1">
            <a:extLst>
              <a:ext uri="{FF2B5EF4-FFF2-40B4-BE49-F238E27FC236}">
                <a16:creationId xmlns:a16="http://schemas.microsoft.com/office/drawing/2014/main" id="{D78E7C8E-173B-5447-ADC9-9E7BAEA7757D}"/>
              </a:ext>
            </a:extLst>
          </p:cNvPr>
          <p:cNvSpPr/>
          <p:nvPr/>
        </p:nvSpPr>
        <p:spPr>
          <a:xfrm>
            <a:off x="0" y="0"/>
            <a:ext cx="13444538" cy="7562850"/>
          </a:xfrm>
          <a:prstGeom prst="round2DiagRect">
            <a:avLst/>
          </a:prstGeom>
          <a:gradFill>
            <a:gsLst>
              <a:gs pos="0">
                <a:srgbClr val="4D3084"/>
              </a:gs>
              <a:gs pos="79000">
                <a:srgbClr val="009AAA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BD01B078-F82F-5444-844C-AE6A5BA32B43}"/>
              </a:ext>
            </a:extLst>
          </p:cNvPr>
          <p:cNvGrpSpPr/>
          <p:nvPr/>
        </p:nvGrpSpPr>
        <p:grpSpPr>
          <a:xfrm>
            <a:off x="2833837" y="3421385"/>
            <a:ext cx="9719622" cy="1603003"/>
            <a:chOff x="3196795" y="3249228"/>
            <a:chExt cx="7919420" cy="1603003"/>
          </a:xfrm>
        </p:grpSpPr>
        <p:sp>
          <p:nvSpPr>
            <p:cNvPr id="2" name="object 2"/>
            <p:cNvSpPr/>
            <p:nvPr/>
          </p:nvSpPr>
          <p:spPr>
            <a:xfrm>
              <a:off x="3196795" y="3291483"/>
              <a:ext cx="898977" cy="979885"/>
            </a:xfrm>
            <a:prstGeom prst="rect">
              <a:avLst/>
            </a:prstGeom>
            <a:blipFill>
              <a:blip r:embed="rId2" cstate="print">
                <a:biLevel thresh="2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4562028" y="3249228"/>
              <a:ext cx="6554187" cy="1603003"/>
            </a:xfrm>
            <a:prstGeom prst="rect">
              <a:avLst/>
            </a:prstGeom>
          </p:spPr>
          <p:txBody>
            <a:bodyPr vert="horz" wrap="square" lIns="0" tIns="63500" rIns="0" bIns="0" rtlCol="0">
              <a:spAutoFit/>
            </a:bodyPr>
            <a:lstStyle>
              <a:lvl1pPr marL="12065" marR="5080">
                <a:lnSpc>
                  <a:spcPts val="4000"/>
                </a:lnSpc>
                <a:spcBef>
                  <a:spcPts val="500"/>
                </a:spcBef>
                <a:defRPr sz="3200" b="0" i="0" spc="-6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lvl1pPr>
            </a:lstStyle>
            <a:p>
              <a:r>
                <a:rPr sz="4000" dirty="0" err="1"/>
                <a:t>Институт</a:t>
              </a:r>
              <a:r>
                <a:rPr sz="4000" dirty="0"/>
                <a:t> </a:t>
              </a:r>
              <a:r>
                <a:rPr lang="ru-RU" sz="4000" dirty="0"/>
                <a:t>информационных технологий</a:t>
              </a:r>
              <a:r>
                <a:rPr sz="4000" dirty="0"/>
                <a:t> и </a:t>
              </a:r>
              <a:r>
                <a:rPr sz="4000" dirty="0" err="1"/>
                <a:t>программирования</a:t>
              </a:r>
              <a:endParaRPr sz="4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830706"/>
              </p:ext>
            </p:extLst>
          </p:nvPr>
        </p:nvGraphicFramePr>
        <p:xfrm>
          <a:off x="590473" y="1477169"/>
          <a:ext cx="5183857" cy="248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393">
                  <a:extLst>
                    <a:ext uri="{9D8B030D-6E8A-4147-A177-3AD203B41FA5}">
                      <a16:colId xmlns:a16="http://schemas.microsoft.com/office/drawing/2014/main" val="35742117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45001222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spc="-75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Бакалавриат</a:t>
                      </a:r>
                      <a:endParaRPr lang="ru-RU" sz="2000" dirty="0">
                        <a:solidFill>
                          <a:schemeClr val="tx1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4126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30" dirty="0" smtClean="0">
                          <a:solidFill>
                            <a:srgbClr val="005BAA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Очно-заочная</a:t>
                      </a:r>
                      <a:r>
                        <a:rPr lang="ru-RU" sz="1500" spc="-50" dirty="0" smtClean="0">
                          <a:solidFill>
                            <a:srgbClr val="005BAA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 </a:t>
                      </a:r>
                      <a:r>
                        <a:rPr lang="ru-RU" sz="1500" spc="-20" dirty="0" smtClean="0">
                          <a:solidFill>
                            <a:srgbClr val="005BAA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форма обучения</a:t>
                      </a:r>
                      <a:endParaRPr lang="ru-RU" sz="150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645377"/>
                  </a:ext>
                </a:extLst>
              </a:tr>
              <a:tr h="139316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ru-RU" sz="1500" b="1" spc="-20" dirty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09.03.01</a:t>
                      </a:r>
                      <a:endParaRPr lang="en-US" sz="1500" b="1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endParaRPr lang="ru-RU" sz="1500" b="1" spc="-20" dirty="0" smtClean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ru-RU" sz="1500" b="1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09.03.03</a:t>
                      </a:r>
                      <a:endParaRPr lang="en-US" sz="1500" b="1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 </a:t>
                      </a:r>
                      <a:endParaRPr lang="ru-RU" sz="1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ru-RU" sz="1500" spc="-20" dirty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Информатика и вычислительная </a:t>
                      </a: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техника</a:t>
                      </a:r>
                      <a:r>
                        <a:rPr lang="ru-RU" sz="1500" spc="-20" baseline="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 группа 4541в</a:t>
                      </a:r>
                      <a:endParaRPr lang="en-US" sz="1500" spc="-20" dirty="0" smtClean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Прикладная информатика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группа 4511в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500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endParaRPr lang="ru-RU" sz="150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64320"/>
                  </a:ext>
                </a:extLst>
              </a:tr>
            </a:tbl>
          </a:graphicData>
        </a:graphic>
      </p:graphicFrame>
      <p:sp>
        <p:nvSpPr>
          <p:cNvPr id="9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/>
          <p:cNvSpPr txBox="1">
            <a:spLocks noGrp="1"/>
          </p:cNvSpPr>
          <p:nvPr>
            <p:ph type="title"/>
          </p:nvPr>
        </p:nvSpPr>
        <p:spPr>
          <a:xfrm>
            <a:off x="590473" y="360003"/>
            <a:ext cx="10236252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Направления подготовки</a:t>
            </a: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pic>
        <p:nvPicPr>
          <p:cNvPr id="1026" name="Picture 2" descr="Описание требований к программному обеспечению абстрактная концепция иллюстраци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370" y="1181891"/>
            <a:ext cx="5962650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727740"/>
              </p:ext>
            </p:extLst>
          </p:nvPr>
        </p:nvGraphicFramePr>
        <p:xfrm>
          <a:off x="590473" y="3925441"/>
          <a:ext cx="5183857" cy="3306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393">
                  <a:extLst>
                    <a:ext uri="{9D8B030D-6E8A-4147-A177-3AD203B41FA5}">
                      <a16:colId xmlns:a16="http://schemas.microsoft.com/office/drawing/2014/main" val="35742117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45001222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spc="-75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Бакалавриат</a:t>
                      </a:r>
                      <a:endParaRPr lang="ru-RU" sz="2000" dirty="0">
                        <a:solidFill>
                          <a:schemeClr val="tx1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4126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30" dirty="0" smtClean="0">
                          <a:solidFill>
                            <a:srgbClr val="005BAA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Заочная</a:t>
                      </a:r>
                      <a:r>
                        <a:rPr lang="ru-RU" sz="1500" spc="-50" dirty="0" smtClean="0">
                          <a:solidFill>
                            <a:srgbClr val="005BAA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 </a:t>
                      </a:r>
                      <a:r>
                        <a:rPr lang="ru-RU" sz="1500" spc="-20" dirty="0" smtClean="0">
                          <a:solidFill>
                            <a:srgbClr val="005BAA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форма обучения</a:t>
                      </a:r>
                      <a:endParaRPr lang="ru-RU" sz="150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645377"/>
                  </a:ext>
                </a:extLst>
              </a:tr>
              <a:tr h="139316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ru-RU" sz="1500" b="1" spc="-20" dirty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09.03.01</a:t>
                      </a:r>
                      <a:endParaRPr lang="en-US" sz="1500" b="1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endParaRPr lang="ru-RU" sz="1500" b="1" spc="-20" dirty="0" smtClean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ru-RU" sz="1500" b="1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09.03.02</a:t>
                      </a:r>
                      <a:endParaRPr lang="en-US" sz="1500" b="1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endParaRPr lang="ru-RU" sz="1500" b="1" spc="-20" dirty="0" smtClean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ru-RU" sz="1500" b="1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09.03.03</a:t>
                      </a:r>
                      <a:endParaRPr lang="en-US" sz="1500" b="1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endParaRPr lang="ru-RU" sz="1500" b="1" spc="-20" dirty="0" smtClean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ru-RU" sz="1500" b="1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09.03.04</a:t>
                      </a: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 </a:t>
                      </a:r>
                      <a:endParaRPr lang="ru-RU" sz="1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ru-RU" sz="1500" spc="-20" dirty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Информатика и вычислительная </a:t>
                      </a: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техника</a:t>
                      </a:r>
                      <a:r>
                        <a:rPr lang="ru-RU" sz="1500" spc="-20" baseline="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 </a:t>
                      </a: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группа  4541з</a:t>
                      </a:r>
                      <a:endParaRPr lang="en-US" sz="1500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20" dirty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Информационные системы и </a:t>
                      </a: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технологии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группа 4521з </a:t>
                      </a:r>
                      <a:endParaRPr lang="ru-RU" sz="1500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20" dirty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Прикладная </a:t>
                      </a: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информатика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группа 4511з</a:t>
                      </a:r>
                      <a:endParaRPr lang="ru-RU" sz="1500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20" dirty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Программная </a:t>
                      </a: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инженерия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-20" dirty="0" smtClean="0">
                          <a:latin typeface="Roboto Light" panose="02000000000000000000" pitchFamily="2" charset="0"/>
                          <a:ea typeface="Roboto Light" panose="02000000000000000000" pitchFamily="2" charset="0"/>
                          <a:cs typeface="Roboto Light" panose="02000000000000000000" pitchFamily="2" charset="0"/>
                        </a:rPr>
                        <a:t>группа 4531з</a:t>
                      </a:r>
                      <a:endParaRPr lang="ru-RU" sz="1500" spc="-2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endParaRPr lang="ru-RU" sz="150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64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62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/>
          <p:cNvSpPr txBox="1">
            <a:spLocks noGrp="1"/>
          </p:cNvSpPr>
          <p:nvPr>
            <p:ph type="title"/>
          </p:nvPr>
        </p:nvSpPr>
        <p:spPr>
          <a:xfrm>
            <a:off x="590473" y="360003"/>
            <a:ext cx="10236252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Очно-заочная форма обучения</a:t>
            </a: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sp>
        <p:nvSpPr>
          <p:cNvPr id="13" name="Прямоугольник: скругленные углы 15">
            <a:extLst>
              <a:ext uri="{FF2B5EF4-FFF2-40B4-BE49-F238E27FC236}">
                <a16:creationId xmlns:a16="http://schemas.microsoft.com/office/drawing/2014/main" id="{3E891A2C-35BF-4A2F-84D2-231F2BAF31EC}"/>
              </a:ext>
            </a:extLst>
          </p:cNvPr>
          <p:cNvSpPr/>
          <p:nvPr/>
        </p:nvSpPr>
        <p:spPr>
          <a:xfrm>
            <a:off x="623022" y="1942113"/>
            <a:ext cx="6027239" cy="4431600"/>
          </a:xfrm>
          <a:prstGeom prst="roundRect">
            <a:avLst>
              <a:gd name="adj" fmla="val 9236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Учебный год состоит из двух семестров:</a:t>
            </a:r>
          </a:p>
          <a:p>
            <a:pPr marL="285750" indent="-285750"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осеннего,</a:t>
            </a:r>
          </a:p>
          <a:p>
            <a:pPr marL="285750" indent="-285750"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весеннего.</a:t>
            </a:r>
          </a:p>
          <a:p>
            <a:pPr marL="285750" indent="-285750">
              <a:buFontTx/>
              <a:buChar char="-"/>
            </a:pPr>
            <a:endParaRPr lang="ru-RU" sz="1500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Осенний семестр начинается с 1 сентября 2025 года</a:t>
            </a: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Весенний семестр начинается с 9 февраля 2026 года. </a:t>
            </a: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Семестры длятся 17 недель. </a:t>
            </a: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Промежуточная аттестация проводится в первую декаду ноября и первую декаду апреля.</a:t>
            </a: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Последняя неделя семестра – зачетная.</a:t>
            </a: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Продолжительность сессий – 20 календарных дней для младших курсов  (1, 2 курсы) и 25 календарных дней для старших курсов (3-5 курсы).</a:t>
            </a:r>
          </a:p>
        </p:txBody>
      </p:sp>
      <p:sp>
        <p:nvSpPr>
          <p:cNvPr id="14" name="Прямоугольник: скругленные углы 17">
            <a:extLst>
              <a:ext uri="{FF2B5EF4-FFF2-40B4-BE49-F238E27FC236}">
                <a16:creationId xmlns:a16="http://schemas.microsoft.com/office/drawing/2014/main" id="{C16BEB05-87C4-43C9-AAF6-70D33FF21420}"/>
              </a:ext>
            </a:extLst>
          </p:cNvPr>
          <p:cNvSpPr/>
          <p:nvPr/>
        </p:nvSpPr>
        <p:spPr>
          <a:xfrm>
            <a:off x="713706" y="1837209"/>
            <a:ext cx="5626708" cy="5040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A3485"/>
              </a:gs>
              <a:gs pos="100000">
                <a:srgbClr val="009AA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Периоды обучения</a:t>
            </a:r>
            <a:endParaRPr lang="ru-RU" sz="14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5" name="Прямоугольник: скругленные углы 15">
            <a:extLst>
              <a:ext uri="{FF2B5EF4-FFF2-40B4-BE49-F238E27FC236}">
                <a16:creationId xmlns:a16="http://schemas.microsoft.com/office/drawing/2014/main" id="{3E891A2C-35BF-4A2F-84D2-231F2BAF31EC}"/>
              </a:ext>
            </a:extLst>
          </p:cNvPr>
          <p:cNvSpPr/>
          <p:nvPr/>
        </p:nvSpPr>
        <p:spPr>
          <a:xfrm>
            <a:off x="7010690" y="1942113"/>
            <a:ext cx="5883223" cy="4431600"/>
          </a:xfrm>
          <a:prstGeom prst="roundRect">
            <a:avLst>
              <a:gd name="adj" fmla="val 9236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Студенты обучаются 4 дня в неделю – с понедельника по четверг.</a:t>
            </a: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Пятница, суббота и воскресение – выходные дни.</a:t>
            </a: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Каждый учебный день по две пары занятий:</a:t>
            </a:r>
          </a:p>
          <a:p>
            <a:pPr marL="285750" indent="-285750"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1 пара с 18.40 до 20.10,</a:t>
            </a:r>
          </a:p>
          <a:p>
            <a:pPr marL="285750" indent="-285750"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2 пара с 20.20 до 21.50.</a:t>
            </a:r>
          </a:p>
          <a:p>
            <a:pPr marL="285750" indent="-285750">
              <a:buFontTx/>
              <a:buChar char="-"/>
            </a:pPr>
            <a:endParaRPr lang="ru-RU" sz="1500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798830" indent="-786765">
              <a:lnSpc>
                <a:spcPts val="1889"/>
              </a:lnSpc>
              <a:spcBef>
                <a:spcPts val="114"/>
              </a:spcBef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Занятия проводятся в трех корпусах: </a:t>
            </a:r>
          </a:p>
          <a:p>
            <a:pPr marL="798830" indent="-786765">
              <a:lnSpc>
                <a:spcPts val="1889"/>
              </a:lnSpc>
              <a:spcBef>
                <a:spcPts val="114"/>
              </a:spcBef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ул. Гастелло, 15,</a:t>
            </a:r>
          </a:p>
          <a:p>
            <a:pPr marL="798830" indent="-786765">
              <a:lnSpc>
                <a:spcPts val="1889"/>
              </a:lnSpc>
              <a:spcBef>
                <a:spcPts val="114"/>
              </a:spcBef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Ул. Ленсовета, 14,</a:t>
            </a:r>
          </a:p>
          <a:p>
            <a:pPr marL="798830" indent="-786765">
              <a:lnSpc>
                <a:spcPts val="1889"/>
              </a:lnSpc>
              <a:spcBef>
                <a:spcPts val="114"/>
              </a:spcBef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Ул. Большая Морская, 67.</a:t>
            </a:r>
          </a:p>
        </p:txBody>
      </p:sp>
      <p:sp>
        <p:nvSpPr>
          <p:cNvPr id="16" name="Прямоугольник: скругленные углы 17">
            <a:extLst>
              <a:ext uri="{FF2B5EF4-FFF2-40B4-BE49-F238E27FC236}">
                <a16:creationId xmlns:a16="http://schemas.microsoft.com/office/drawing/2014/main" id="{C16BEB05-87C4-43C9-AAF6-70D33FF21420}"/>
              </a:ext>
            </a:extLst>
          </p:cNvPr>
          <p:cNvSpPr/>
          <p:nvPr/>
        </p:nvSpPr>
        <p:spPr>
          <a:xfrm>
            <a:off x="7101374" y="1837209"/>
            <a:ext cx="5626708" cy="5040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A3485"/>
              </a:gs>
              <a:gs pos="100000">
                <a:srgbClr val="009AA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Организация учебного </a:t>
            </a:r>
            <a:r>
              <a:rPr lang="ru-RU" sz="1400" dirty="0" smtClean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процесса</a:t>
            </a:r>
            <a:endParaRPr lang="ru-RU" sz="14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67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/>
          <p:cNvSpPr txBox="1">
            <a:spLocks noGrp="1"/>
          </p:cNvSpPr>
          <p:nvPr>
            <p:ph type="title"/>
          </p:nvPr>
        </p:nvSpPr>
        <p:spPr>
          <a:xfrm>
            <a:off x="590473" y="360003"/>
            <a:ext cx="10236252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Заочная форма обучения</a:t>
            </a: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sp>
        <p:nvSpPr>
          <p:cNvPr id="13" name="Прямоугольник: скругленные углы 15">
            <a:extLst>
              <a:ext uri="{FF2B5EF4-FFF2-40B4-BE49-F238E27FC236}">
                <a16:creationId xmlns:a16="http://schemas.microsoft.com/office/drawing/2014/main" id="{3E891A2C-35BF-4A2F-84D2-231F2BAF31EC}"/>
              </a:ext>
            </a:extLst>
          </p:cNvPr>
          <p:cNvSpPr/>
          <p:nvPr/>
        </p:nvSpPr>
        <p:spPr>
          <a:xfrm>
            <a:off x="623022" y="1942113"/>
            <a:ext cx="6027239" cy="4431600"/>
          </a:xfrm>
          <a:prstGeom prst="roundRect">
            <a:avLst>
              <a:gd name="adj" fmla="val 9236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Учебный год состоит из двух семестров:</a:t>
            </a:r>
          </a:p>
          <a:p>
            <a:pPr marL="285750" indent="-285750"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осеннего,</a:t>
            </a:r>
          </a:p>
          <a:p>
            <a:pPr marL="285750" indent="-285750"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весеннего.</a:t>
            </a:r>
          </a:p>
          <a:p>
            <a:pPr marL="285750" indent="-285750">
              <a:buFontTx/>
              <a:buChar char="-"/>
            </a:pPr>
            <a:endParaRPr lang="ru-RU" sz="1500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Осенний семестр начинается с 1 сентября 2025 года</a:t>
            </a: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Весенний семестр начинается с 16 февраля 2026 года. </a:t>
            </a: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Продолжительность сессий – 20 календарных дней для младших курсов  (1, 2 курсы) и 25 календарных дней для старших курсов (3-5 курсы).</a:t>
            </a:r>
            <a:r>
              <a:rPr lang="ru-RU" sz="15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Зимняя </a:t>
            </a:r>
            <a:r>
              <a:rPr lang="ru-RU" sz="15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сессия -</a:t>
            </a: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5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с 12.01.26 </a:t>
            </a: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по 31.01.26. </a:t>
            </a: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Летняя сессия  - с 08.06.26 по 27.06.26.</a:t>
            </a:r>
          </a:p>
          <a:p>
            <a:endParaRPr lang="ru-RU" sz="1500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В период с 30.03.26 по 12.04.26 состоится учебная ознакомительная практика.</a:t>
            </a:r>
            <a:endParaRPr lang="ru-RU" sz="1500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Прямоугольник: скругленные углы 17">
            <a:extLst>
              <a:ext uri="{FF2B5EF4-FFF2-40B4-BE49-F238E27FC236}">
                <a16:creationId xmlns:a16="http://schemas.microsoft.com/office/drawing/2014/main" id="{C16BEB05-87C4-43C9-AAF6-70D33FF21420}"/>
              </a:ext>
            </a:extLst>
          </p:cNvPr>
          <p:cNvSpPr/>
          <p:nvPr/>
        </p:nvSpPr>
        <p:spPr>
          <a:xfrm>
            <a:off x="713706" y="1837209"/>
            <a:ext cx="5626708" cy="5040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A3485"/>
              </a:gs>
              <a:gs pos="100000">
                <a:srgbClr val="009AA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Периоды обучения</a:t>
            </a:r>
            <a:endParaRPr lang="ru-RU" sz="14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5" name="Прямоугольник: скругленные углы 15">
            <a:extLst>
              <a:ext uri="{FF2B5EF4-FFF2-40B4-BE49-F238E27FC236}">
                <a16:creationId xmlns:a16="http://schemas.microsoft.com/office/drawing/2014/main" id="{3E891A2C-35BF-4A2F-84D2-231F2BAF31EC}"/>
              </a:ext>
            </a:extLst>
          </p:cNvPr>
          <p:cNvSpPr/>
          <p:nvPr/>
        </p:nvSpPr>
        <p:spPr>
          <a:xfrm>
            <a:off x="7010690" y="1942113"/>
            <a:ext cx="5883223" cy="4431600"/>
          </a:xfrm>
          <a:prstGeom prst="roundRect">
            <a:avLst>
              <a:gd name="adj" fmla="val 9236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Студенты в течение семестра до начала сессий обучаются самостоятельно, выполняя задания преподавателей, которые публикуются с системе «Личный кабинет» </a:t>
            </a:r>
            <a:r>
              <a:rPr lang="en-US" sz="15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(</a:t>
            </a:r>
            <a:r>
              <a:rPr lang="en-US" sz="15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hlinkClick r:id="rId3"/>
              </a:rPr>
              <a:t>https://pro.guap.ru</a:t>
            </a:r>
            <a:r>
              <a:rPr lang="en-US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)</a:t>
            </a: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или в Системе </a:t>
            </a:r>
            <a:r>
              <a:rPr lang="ru-RU" sz="15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дистанционного обучения ГУАП </a:t>
            </a: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(</a:t>
            </a:r>
            <a:r>
              <a:rPr lang="en-US" sz="15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hlinkClick r:id="rId4"/>
              </a:rPr>
              <a:t>https://lms.guap.ru/new</a:t>
            </a:r>
            <a:r>
              <a:rPr lang="en-US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hlinkClick r:id="rId4"/>
              </a:rPr>
              <a:t>/</a:t>
            </a:r>
            <a:r>
              <a:rPr lang="en-US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).</a:t>
            </a:r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ru-RU" sz="1500" dirty="0" smtClean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В период сессии проводятся обзорные лекции, лабораторные и практические занятия, а также сдаются зачеты и экзамены.</a:t>
            </a:r>
          </a:p>
          <a:p>
            <a:endParaRPr lang="ru-RU" sz="1500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798830" indent="-786765">
              <a:lnSpc>
                <a:spcPts val="1889"/>
              </a:lnSpc>
              <a:spcBef>
                <a:spcPts val="114"/>
              </a:spcBef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Занятия проводятся в трех корпусах: </a:t>
            </a:r>
          </a:p>
          <a:p>
            <a:pPr marL="798830" indent="-786765">
              <a:lnSpc>
                <a:spcPts val="1889"/>
              </a:lnSpc>
              <a:spcBef>
                <a:spcPts val="114"/>
              </a:spcBef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ул. Гастелло, 15,</a:t>
            </a:r>
          </a:p>
          <a:p>
            <a:pPr marL="798830" indent="-786765">
              <a:lnSpc>
                <a:spcPts val="1889"/>
              </a:lnSpc>
              <a:spcBef>
                <a:spcPts val="114"/>
              </a:spcBef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Ул. Ленсовета, 14,</a:t>
            </a:r>
          </a:p>
          <a:p>
            <a:pPr marL="798830" indent="-786765">
              <a:lnSpc>
                <a:spcPts val="1889"/>
              </a:lnSpc>
              <a:spcBef>
                <a:spcPts val="114"/>
              </a:spcBef>
              <a:buFontTx/>
              <a:buChar char="-"/>
            </a:pPr>
            <a:r>
              <a:rPr lang="ru-RU" sz="1500" dirty="0" smtClean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Ул. Большая Морская, 67.</a:t>
            </a:r>
          </a:p>
        </p:txBody>
      </p:sp>
      <p:sp>
        <p:nvSpPr>
          <p:cNvPr id="16" name="Прямоугольник: скругленные углы 17">
            <a:extLst>
              <a:ext uri="{FF2B5EF4-FFF2-40B4-BE49-F238E27FC236}">
                <a16:creationId xmlns:a16="http://schemas.microsoft.com/office/drawing/2014/main" id="{C16BEB05-87C4-43C9-AAF6-70D33FF21420}"/>
              </a:ext>
            </a:extLst>
          </p:cNvPr>
          <p:cNvSpPr/>
          <p:nvPr/>
        </p:nvSpPr>
        <p:spPr>
          <a:xfrm>
            <a:off x="7101374" y="1837209"/>
            <a:ext cx="5626708" cy="5040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A3485"/>
              </a:gs>
              <a:gs pos="100000">
                <a:srgbClr val="009AA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Организация учебного </a:t>
            </a:r>
            <a:r>
              <a:rPr lang="ru-RU" sz="1400" dirty="0" smtClean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процесса</a:t>
            </a:r>
            <a:endParaRPr lang="ru-RU" sz="14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96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 txBox="1">
            <a:spLocks noGrp="1"/>
          </p:cNvSpPr>
          <p:nvPr>
            <p:ph type="title"/>
          </p:nvPr>
        </p:nvSpPr>
        <p:spPr>
          <a:xfrm>
            <a:off x="590473" y="360003"/>
            <a:ext cx="10236252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Личный кабинет обучающегося</a:t>
            </a: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321669" y="1837209"/>
            <a:ext cx="102971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endParaRPr lang="ru-RU" sz="2000" dirty="0" smtClean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just">
              <a:defRPr/>
            </a:pP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Единой точкой входа является система «Личный </a:t>
            </a:r>
            <a:r>
              <a:rPr lang="ru-RU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кабинет</a:t>
            </a: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» (</a:t>
            </a:r>
            <a:r>
              <a:rPr lang="en-US" sz="2000" dirty="0">
                <a:latin typeface="Roboto Light" panose="02000000000000000000" pitchFamily="2" charset="0"/>
                <a:ea typeface="Roboto Light" panose="02000000000000000000" pitchFamily="2" charset="0"/>
                <a:hlinkClick r:id="rId3"/>
              </a:rPr>
              <a:t>https://</a:t>
            </a:r>
            <a:r>
              <a:rPr lang="en-US" sz="2000" dirty="0" smtClean="0">
                <a:latin typeface="Roboto Light" panose="02000000000000000000" pitchFamily="2" charset="0"/>
                <a:ea typeface="Roboto Light" panose="02000000000000000000" pitchFamily="2" charset="0"/>
                <a:hlinkClick r:id="rId3"/>
              </a:rPr>
              <a:t>pro.guap.ru</a:t>
            </a: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</a:rPr>
              <a:t>)</a:t>
            </a: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 </a:t>
            </a:r>
          </a:p>
          <a:p>
            <a:pPr algn="just">
              <a:defRPr/>
            </a:pP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Логин </a:t>
            </a:r>
            <a:r>
              <a:rPr lang="ru-RU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и пароль для </a:t>
            </a: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входа в систему «Личный кабинет» будут направлены </a:t>
            </a:r>
            <a:r>
              <a:rPr lang="ru-RU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на адрес электронной почты</a:t>
            </a: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который </a:t>
            </a:r>
            <a:r>
              <a:rPr lang="ru-RU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был указан при подаче документов </a:t>
            </a: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в ГУАП.</a:t>
            </a:r>
          </a:p>
          <a:p>
            <a:pPr algn="just">
              <a:defRPr/>
            </a:pPr>
            <a:endParaRPr lang="ru-RU" sz="2000" dirty="0" smtClean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just">
              <a:defRPr/>
            </a:pPr>
            <a:endParaRPr lang="ru-RU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just">
              <a:defRPr/>
            </a:pPr>
            <a:r>
              <a:rPr lang="ru-RU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Система дистанционного обучения (</a:t>
            </a:r>
            <a:r>
              <a:rPr lang="ru-RU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hlinkClick r:id="rId4"/>
              </a:rPr>
              <a:t>https://lms.guap.ru/new</a:t>
            </a: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hlinkClick r:id="rId4"/>
              </a:rPr>
              <a:t>/</a:t>
            </a: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).</a:t>
            </a:r>
          </a:p>
          <a:p>
            <a:pPr algn="just">
              <a:defRPr/>
            </a:pP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Вход </a:t>
            </a:r>
            <a:r>
              <a:rPr lang="ru-RU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с СДО осуществляется из системы «Личный кабинет» нажатием </a:t>
            </a:r>
            <a:r>
              <a:rPr lang="ru-RU" sz="20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кнопки «</a:t>
            </a:r>
            <a:r>
              <a:rPr lang="ru-RU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LMS», которая размещена во вкладке Образовательная среда.</a:t>
            </a:r>
          </a:p>
        </p:txBody>
      </p:sp>
    </p:spTree>
    <p:extLst>
      <p:ext uri="{BB962C8B-B14F-4D97-AF65-F5344CB8AC3E}">
        <p14:creationId xmlns:p14="http://schemas.microsoft.com/office/powerpoint/2010/main" val="319721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 txBox="1">
            <a:spLocks noGrp="1"/>
          </p:cNvSpPr>
          <p:nvPr>
            <p:ph type="title"/>
          </p:nvPr>
        </p:nvSpPr>
        <p:spPr>
          <a:xfrm>
            <a:off x="590473" y="360003"/>
            <a:ext cx="10236252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Личный кабинет обучающегося и главная страница</a:t>
            </a: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45605" y="2761320"/>
            <a:ext cx="3175849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endParaRPr lang="ru-RU" sz="2000" dirty="0" smtClean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just">
              <a:defRPr/>
            </a:pPr>
            <a:r>
              <a:rPr lang="ru-RU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Логин 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и пароль для </a:t>
            </a:r>
            <a:r>
              <a:rPr lang="ru-RU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входа в систему «Личный кабинет» (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(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  <a:hlinkClick r:id="rId3"/>
              </a:rPr>
              <a:t>https://</a:t>
            </a:r>
            <a:r>
              <a:rPr lang="en-US" dirty="0" smtClean="0">
                <a:latin typeface="Roboto Light" panose="02000000000000000000" pitchFamily="2" charset="0"/>
                <a:ea typeface="Roboto Light" panose="02000000000000000000" pitchFamily="2" charset="0"/>
                <a:hlinkClick r:id="rId3"/>
              </a:rPr>
              <a:t>pro.guap.ru</a:t>
            </a:r>
            <a:r>
              <a:rPr lang="ru-RU" dirty="0" smtClean="0">
                <a:latin typeface="Roboto Light" panose="02000000000000000000" pitchFamily="2" charset="0"/>
                <a:ea typeface="Roboto Light" panose="02000000000000000000" pitchFamily="2" charset="0"/>
              </a:rPr>
              <a:t>)</a:t>
            </a:r>
            <a:r>
              <a:rPr lang="ru-RU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будут направлены 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на адрес электронной почты</a:t>
            </a:r>
            <a:r>
              <a:rPr lang="ru-RU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который 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был указан при подаче документов </a:t>
            </a:r>
            <a:r>
              <a:rPr lang="ru-RU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в ГУАП.</a:t>
            </a:r>
          </a:p>
          <a:p>
            <a:pPr algn="just">
              <a:defRPr/>
            </a:pPr>
            <a:endParaRPr lang="ru-RU" sz="2000" dirty="0" smtClean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just">
              <a:defRPr/>
            </a:pPr>
            <a:endParaRPr lang="ru-RU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pic>
        <p:nvPicPr>
          <p:cNvPr id="6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2069" y="1599527"/>
            <a:ext cx="7095889" cy="527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6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 txBox="1">
            <a:spLocks noGrp="1"/>
          </p:cNvSpPr>
          <p:nvPr>
            <p:ph type="title"/>
          </p:nvPr>
        </p:nvSpPr>
        <p:spPr>
          <a:xfrm>
            <a:off x="590473" y="360003"/>
            <a:ext cx="10236252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Личный кабинет обучающегося и главная страница</a:t>
            </a: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749065" y="1181891"/>
            <a:ext cx="6805852" cy="616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endParaRPr lang="ru-RU" sz="1500" dirty="0" smtClean="0">
              <a:latin typeface="Roboto Light" panose="020B0604020202020204" charset="0"/>
              <a:ea typeface="Roboto Light" panose="020B0604020202020204" charset="0"/>
              <a:cs typeface="Roboto Light" panose="02000000000000000000" pitchFamily="2" charset="0"/>
            </a:endParaRPr>
          </a:p>
          <a:p>
            <a:pPr algn="just">
              <a:defRPr/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В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системе «Личный кабинет» для студента доступные следующие функции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:</a:t>
            </a:r>
          </a:p>
          <a:p>
            <a:pPr marL="262255" indent="-249554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2255" algn="l"/>
              </a:tabLst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просмотр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своей успеваемости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;</a:t>
            </a:r>
            <a:endParaRPr lang="ru-RU" dirty="0">
              <a:latin typeface="Roboto Light" panose="020B0604020202020204" charset="0"/>
              <a:ea typeface="Roboto Light" panose="020B0604020202020204" charset="0"/>
            </a:endParaRPr>
          </a:p>
          <a:p>
            <a:pPr marL="262255" indent="-249554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62255" algn="l"/>
              </a:tabLst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просмотр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списка дисциплин с преподавателями;</a:t>
            </a:r>
          </a:p>
          <a:p>
            <a:pPr marL="262255" indent="-249554">
              <a:lnSpc>
                <a:spcPct val="100000"/>
              </a:lnSpc>
              <a:buFont typeface="Arial MT"/>
              <a:buChar char="•"/>
              <a:tabLst>
                <a:tab pos="262255" algn="l"/>
              </a:tabLst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функционал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выполнения заданий, которые публикует преподаватель;</a:t>
            </a:r>
          </a:p>
          <a:p>
            <a:pPr marL="262255" indent="-249554">
              <a:lnSpc>
                <a:spcPct val="100000"/>
              </a:lnSpc>
              <a:buFont typeface="Arial MT"/>
              <a:buChar char="•"/>
              <a:tabLst>
                <a:tab pos="262255" algn="l"/>
              </a:tabLst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списки методических материалов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по дисциплинам;</a:t>
            </a:r>
          </a:p>
          <a:p>
            <a:pPr marL="262255" marR="5715" indent="-250190" algn="just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62255" algn="l"/>
              </a:tabLst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оформление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различных справок для предоставления налоговую инспекцию, по месту работы, УФМС и так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далее;</a:t>
            </a:r>
          </a:p>
          <a:p>
            <a:pPr marL="262255" marR="5715" indent="-250190" algn="just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62255" algn="l"/>
              </a:tabLst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справка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о периоде обучения с указанием часов и дисциплин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(справка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об обучении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);</a:t>
            </a:r>
          </a:p>
          <a:p>
            <a:pPr marL="262255" marR="5715" indent="-250190" algn="just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62255" algn="l"/>
              </a:tabLst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справка-вызов для предоставления учебного отпуска. </a:t>
            </a: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lang="ru-RU" dirty="0">
              <a:latin typeface="Roboto Light" panose="020B0604020202020204" charset="0"/>
              <a:ea typeface="Roboto Light" panose="020B0604020202020204" charset="0"/>
            </a:endParaRPr>
          </a:p>
          <a:p>
            <a:pPr marL="12700" marR="5080" algn="just">
              <a:lnSpc>
                <a:spcPct val="100299"/>
              </a:lnSpc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Сроки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изготовления прописаны после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заявки. </a:t>
            </a:r>
          </a:p>
          <a:p>
            <a:pPr marL="12700" marR="5080" algn="just">
              <a:lnSpc>
                <a:spcPct val="100299"/>
              </a:lnSpc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Внимательно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проверяйте свои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данные! </a:t>
            </a:r>
          </a:p>
          <a:p>
            <a:pPr marL="12700" marR="5080" algn="just">
              <a:lnSpc>
                <a:spcPct val="100299"/>
              </a:lnSpc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Также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при заявке на оформление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справки-вызова </a:t>
            </a:r>
            <a:r>
              <a:rPr lang="ru-RU" u="sng" dirty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</a:rPr>
              <a:t>ОБЯЗАТЕЛЬНО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 проверяйте название организации работодателя.</a:t>
            </a:r>
          </a:p>
          <a:p>
            <a:pPr algn="just">
              <a:defRPr/>
            </a:pPr>
            <a:endParaRPr lang="ru-RU" spc="-130" dirty="0" smtClean="0">
              <a:latin typeface="Roboto Light" panose="020B0604020202020204" charset="0"/>
              <a:ea typeface="Roboto Light" panose="020B0604020202020204" charset="0"/>
            </a:endParaRPr>
          </a:p>
          <a:p>
            <a:pPr algn="just">
              <a:defRPr/>
            </a:pPr>
            <a:endParaRPr lang="ru-RU" sz="1600" spc="-13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just">
              <a:defRPr/>
            </a:pPr>
            <a:endParaRPr lang="ru-RU" sz="2000" spc="-130" dirty="0" smtClean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grpSp>
        <p:nvGrpSpPr>
          <p:cNvPr id="6" name="object 2"/>
          <p:cNvGrpSpPr/>
          <p:nvPr/>
        </p:nvGrpSpPr>
        <p:grpSpPr>
          <a:xfrm>
            <a:off x="566505" y="1318074"/>
            <a:ext cx="2160240" cy="4831782"/>
            <a:chOff x="188976" y="2034540"/>
            <a:chExt cx="1511935" cy="3491865"/>
          </a:xfrm>
        </p:grpSpPr>
        <p:pic>
          <p:nvPicPr>
            <p:cNvPr id="7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976" y="2034540"/>
              <a:ext cx="1511807" cy="1220724"/>
            </a:xfrm>
            <a:prstGeom prst="rect">
              <a:avLst/>
            </a:prstGeom>
          </p:spPr>
        </p:pic>
        <p:pic>
          <p:nvPicPr>
            <p:cNvPr id="11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976" y="3296412"/>
              <a:ext cx="1511807" cy="2229611"/>
            </a:xfrm>
            <a:prstGeom prst="rect">
              <a:avLst/>
            </a:prstGeom>
          </p:spPr>
        </p:pic>
      </p:grpSp>
      <p:pic>
        <p:nvPicPr>
          <p:cNvPr id="12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37893" y="1588574"/>
            <a:ext cx="1788247" cy="1772865"/>
          </a:xfrm>
          <a:prstGeom prst="rect">
            <a:avLst/>
          </a:prstGeom>
        </p:spPr>
      </p:pic>
      <p:pic>
        <p:nvPicPr>
          <p:cNvPr id="13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7893" y="3911788"/>
            <a:ext cx="1799841" cy="193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 txBox="1">
            <a:spLocks noGrp="1"/>
          </p:cNvSpPr>
          <p:nvPr>
            <p:ph type="title"/>
          </p:nvPr>
        </p:nvSpPr>
        <p:spPr>
          <a:xfrm>
            <a:off x="590473" y="360003"/>
            <a:ext cx="10236252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Личный кабинет обучающегося и СДО</a:t>
            </a: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41438" y="1180013"/>
            <a:ext cx="12160174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endParaRPr lang="ru-RU" sz="1500" dirty="0" smtClean="0">
              <a:latin typeface="Roboto Light" panose="020B0604020202020204" charset="0"/>
              <a:ea typeface="Roboto Light" panose="020B0604020202020204" charset="0"/>
              <a:cs typeface="Roboto Light" panose="02000000000000000000" pitchFamily="2" charset="0"/>
            </a:endParaRPr>
          </a:p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Для обучения преподаватель может использовать систему дистанционного обучения ГУАП (</a:t>
            </a:r>
            <a:r>
              <a:rPr lang="en-US" dirty="0">
                <a:latin typeface="Roboto Light" panose="020B0604020202020204" charset="0"/>
                <a:ea typeface="Roboto Light" panose="020B0604020202020204" charset="0"/>
                <a:cs typeface="Microsoft Sans Serif"/>
                <a:hlinkClick r:id="rId3"/>
              </a:rPr>
              <a:t>https://lms.guap.ru/new/</a:t>
            </a:r>
            <a:r>
              <a:rPr lang="en-US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)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,  которая  содержит специальные курсы, соответствующие  определенной дисциплине .</a:t>
            </a:r>
          </a:p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В этих курсах преподаватель может публиковать дополнительный материал для изучения дисциплины, методические рекомендации по выполнению лабораторных и практических работ, проводить тестирование для контроля знаний студента, а также проводить видео-лекции со студентами в режиме видеоконференций. </a:t>
            </a: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</p:txBody>
      </p:sp>
      <p:pic>
        <p:nvPicPr>
          <p:cNvPr id="14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8213" y="3637409"/>
            <a:ext cx="6537443" cy="33843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8668" y="3460105"/>
            <a:ext cx="46965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Вход с СДО осуществляется из системы «Личный кабинет» нажатием кнопки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«LMS», которая размещена во вкладке Образовательная среда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endParaRPr lang="ru-RU" dirty="0" smtClean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Обязательно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проверяйте сроки, которые прописаны в Онлайн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курсе!</a:t>
            </a:r>
          </a:p>
          <a:p>
            <a:endParaRPr lang="ru-RU" dirty="0" smtClean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Невыполнение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заданий влечет  за  собой  получение </a:t>
            </a:r>
            <a:r>
              <a:rPr lang="ru-RU" u="sng" dirty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неудовлетворительной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 оценки.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183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 txBox="1">
            <a:spLocks noGrp="1"/>
          </p:cNvSpPr>
          <p:nvPr>
            <p:ph type="title"/>
          </p:nvPr>
        </p:nvSpPr>
        <p:spPr>
          <a:xfrm>
            <a:off x="590472" y="-9329"/>
            <a:ext cx="10549015" cy="11208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/>
            </a:r>
            <a:b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</a:b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Оформление электронного пропуска и студенческого билета</a:t>
            </a:r>
            <a: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/>
            </a:r>
            <a:b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</a:b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90473" y="1368111"/>
            <a:ext cx="12311139" cy="4588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Если в личном кабинете абитуриента ГУАП была загружена и одобрена фотография, то в этом случае электронный пропуск в ГУАП и студенческий билет готовы.</a:t>
            </a:r>
          </a:p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Если фотография не загружена, то ее оригинал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для оформления студенческого билета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надо принести.  </a:t>
            </a:r>
          </a:p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В любом случае для получения </a:t>
            </a:r>
            <a:r>
              <a:rPr lang="ru-RU" b="1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готового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 пропуска и студенческого билета необходимо обращаться в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</a:rPr>
              <a:t>отдел сопровождения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обучающихся, находящийся по адресу ул. Гастелло, 15, аудитория 14-13. Режим работы: </a:t>
            </a:r>
            <a:r>
              <a:rPr lang="ru-RU" dirty="0" err="1" smtClean="0">
                <a:latin typeface="Roboto Light" panose="020B0604020202020204" charset="0"/>
                <a:ea typeface="Roboto Light" panose="020B0604020202020204" charset="0"/>
              </a:rPr>
              <a:t>Пн-Пт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 с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10:00 до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18:00.</a:t>
            </a: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</a:rPr>
              <a:t> </a:t>
            </a: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В случае, если фотография не была загружена в личный кабинет абитуриента ГУАП, для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оформления электронного пропуска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необходимо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обратится в отдел контрольно-пропускного режима, находящийся по адресу ул. Б. Морская д. 67, 1 этаж. Режим работы ОКПР: </a:t>
            </a:r>
            <a:r>
              <a:rPr lang="ru-RU" dirty="0" err="1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Пн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 - </a:t>
            </a:r>
            <a:r>
              <a:rPr lang="ru-RU" dirty="0" err="1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Пт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 с 10:00 до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16:30.</a:t>
            </a:r>
          </a:p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10"/>
              </a:spcBef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Студентам обязательно при себе иметь паспорт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.</a:t>
            </a:r>
          </a:p>
          <a:p>
            <a:pPr marL="12700" algn="just">
              <a:lnSpc>
                <a:spcPct val="100000"/>
              </a:lnSpc>
              <a:spcBef>
                <a:spcPts val="10"/>
              </a:spcBef>
            </a:pP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 algn="just">
              <a:lnSpc>
                <a:spcPct val="100000"/>
              </a:lnSpc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ВНИМАНИЕ! </a:t>
            </a:r>
            <a:r>
              <a:rPr lang="ru-RU" u="sng" dirty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Оформление пропусков начинается с </a:t>
            </a:r>
            <a:r>
              <a:rPr lang="ru-RU" u="sng" dirty="0" smtClean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01.09.2025 – для студентов очно-заочной формы обучения и с 01.10.2025 – для студентов заочной формы обучения.</a:t>
            </a:r>
          </a:p>
          <a:p>
            <a:pPr marL="12700" algn="just">
              <a:lnSpc>
                <a:spcPct val="100000"/>
              </a:lnSpc>
            </a:pP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11576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 txBox="1">
            <a:spLocks noGrp="1"/>
          </p:cNvSpPr>
          <p:nvPr>
            <p:ph type="title"/>
          </p:nvPr>
        </p:nvSpPr>
        <p:spPr>
          <a:xfrm>
            <a:off x="590472" y="-9329"/>
            <a:ext cx="10549015" cy="11208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/>
            </a:r>
            <a:b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</a:b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Ускоренное обучение в ГУАП</a:t>
            </a:r>
            <a: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/>
            </a:r>
            <a:b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</a:b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90473" y="1368111"/>
            <a:ext cx="12311139" cy="3152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Студентам, имеющим высшее (неоконченное высшее)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образование,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предоставляется возможность подачи заявления на ускоренное обучение по индивидуальному учебному плану. Подать заявление студенты могут в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деканате Института 4 </a:t>
            </a:r>
            <a:r>
              <a:rPr lang="ru-RU" b="1" u="sng" dirty="0" smtClean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  <a:cs typeface="Arial"/>
              </a:rPr>
              <a:t>не </a:t>
            </a:r>
            <a:r>
              <a:rPr lang="ru-RU" b="1" u="sng" dirty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  <a:cs typeface="Arial"/>
              </a:rPr>
              <a:t>позднее </a:t>
            </a:r>
            <a:r>
              <a:rPr lang="ru-RU" b="1" u="sng" dirty="0" smtClean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  <a:cs typeface="Arial"/>
              </a:rPr>
              <a:t>13.09.2025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.</a:t>
            </a:r>
          </a:p>
          <a:p>
            <a:pPr marL="12700" marR="5080">
              <a:lnSpc>
                <a:spcPct val="100200"/>
              </a:lnSpc>
              <a:spcBef>
                <a:spcPts val="95"/>
              </a:spcBef>
            </a:pP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 marR="186690">
              <a:lnSpc>
                <a:spcPct val="100000"/>
              </a:lnSpc>
              <a:spcBef>
                <a:spcPts val="10"/>
              </a:spcBef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Решение о возможности ускоренного обучения принимает аттестационная комиссия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Института 4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в срок до 20 рабочих дней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.</a:t>
            </a:r>
          </a:p>
          <a:p>
            <a:pPr marL="12700" marR="186690">
              <a:lnSpc>
                <a:spcPct val="100000"/>
              </a:lnSpc>
              <a:spcBef>
                <a:spcPts val="10"/>
              </a:spcBef>
            </a:pP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В случае положительного решения комиссии со студентом связываются для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дальнейшего согласования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индивидуального учебного плана. </a:t>
            </a:r>
            <a:endParaRPr lang="ru-RU" dirty="0" smtClean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После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успешного прохождения индивидуального учебного плана срок обучения </a:t>
            </a:r>
            <a:r>
              <a:rPr lang="ru-RU" i="1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может быть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сокращен на 1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учебный год. </a:t>
            </a: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98082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 txBox="1">
            <a:spLocks noGrp="1"/>
          </p:cNvSpPr>
          <p:nvPr>
            <p:ph type="title"/>
          </p:nvPr>
        </p:nvSpPr>
        <p:spPr>
          <a:xfrm>
            <a:off x="590472" y="-9329"/>
            <a:ext cx="10549015" cy="11208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/>
            </a:r>
            <a:b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</a:b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Переаттестация дисциплин в ГУАП</a:t>
            </a:r>
            <a: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/>
            </a:r>
            <a:b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</a:b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90473" y="1368111"/>
            <a:ext cx="12311139" cy="2698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1167765">
              <a:lnSpc>
                <a:spcPct val="100499"/>
              </a:lnSpc>
              <a:spcBef>
                <a:spcPts val="85"/>
              </a:spcBef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Студентам, имеющим среднее профессиональное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образование,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предоставляется возможность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подачи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заявления на переаттестацию дисциплин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.</a:t>
            </a:r>
          </a:p>
          <a:p>
            <a:pPr marL="12700" marR="1167765">
              <a:lnSpc>
                <a:spcPct val="100499"/>
              </a:lnSpc>
              <a:spcBef>
                <a:spcPts val="85"/>
              </a:spcBef>
            </a:pP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Подать заявление студенты могут в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деканате Института 4 </a:t>
            </a:r>
            <a:r>
              <a:rPr lang="ru-RU" b="1" u="sng" dirty="0" smtClean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  <a:cs typeface="Arial"/>
              </a:rPr>
              <a:t>не </a:t>
            </a:r>
            <a:r>
              <a:rPr lang="ru-RU" b="1" u="sng" dirty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  <a:cs typeface="Arial"/>
              </a:rPr>
              <a:t>позднее </a:t>
            </a:r>
            <a:r>
              <a:rPr lang="ru-RU" b="1" u="sng" dirty="0" smtClean="0">
                <a:uFill>
                  <a:solidFill>
                    <a:srgbClr val="FFFFFF"/>
                  </a:solidFill>
                </a:uFill>
                <a:latin typeface="Roboto Light" panose="020B0604020202020204" charset="0"/>
                <a:ea typeface="Roboto Light" panose="020B0604020202020204" charset="0"/>
                <a:cs typeface="Arial"/>
              </a:rPr>
              <a:t>30.09.2025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.</a:t>
            </a: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 marR="338455">
              <a:lnSpc>
                <a:spcPct val="100000"/>
              </a:lnSpc>
              <a:spcBef>
                <a:spcPts val="15"/>
              </a:spcBef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Решение о возможности переаттестации дисциплин принимает аттестационная комиссия 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Института 4 в </a:t>
            </a: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срок до 14 календарных дней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.</a:t>
            </a:r>
          </a:p>
          <a:p>
            <a:pPr marL="12700" marR="338455">
              <a:lnSpc>
                <a:spcPct val="100000"/>
              </a:lnSpc>
              <a:spcBef>
                <a:spcPts val="15"/>
              </a:spcBef>
            </a:pP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  <a:p>
            <a:pPr marL="12700" marR="370840">
              <a:lnSpc>
                <a:spcPts val="2530"/>
              </a:lnSpc>
              <a:spcBef>
                <a:spcPts val="75"/>
              </a:spcBef>
            </a:pPr>
            <a:r>
              <a:rPr lang="ru-RU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После подписания Заключения аттестационной комиссии итоги переаттестации вносятся в учебную карточку и в зачётную книжку студента и прохождению </a:t>
            </a:r>
            <a:r>
              <a:rPr lang="ru-RU" i="1" dirty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не подлежат</a:t>
            </a:r>
            <a:r>
              <a:rPr lang="ru-RU" dirty="0" smtClean="0">
                <a:latin typeface="Roboto Light" panose="020B0604020202020204" charset="0"/>
                <a:ea typeface="Roboto Light" panose="020B0604020202020204" charset="0"/>
                <a:cs typeface="Microsoft Sans Serif"/>
              </a:rPr>
              <a:t>.</a:t>
            </a:r>
            <a:endParaRPr lang="ru-RU" dirty="0">
              <a:latin typeface="Roboto Light" panose="020B0604020202020204" charset="0"/>
              <a:ea typeface="Roboto Light" panose="020B0604020202020204" charset="0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67107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486268"/>
              </p:ext>
            </p:extLst>
          </p:nvPr>
        </p:nvGraphicFramePr>
        <p:xfrm>
          <a:off x="5498133" y="885825"/>
          <a:ext cx="7403479" cy="6901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426">
                  <a:extLst>
                    <a:ext uri="{9D8B030D-6E8A-4147-A177-3AD203B41FA5}">
                      <a16:colId xmlns:a16="http://schemas.microsoft.com/office/drawing/2014/main" val="357421178"/>
                    </a:ext>
                  </a:extLst>
                </a:gridCol>
                <a:gridCol w="1811053">
                  <a:extLst>
                    <a:ext uri="{9D8B030D-6E8A-4147-A177-3AD203B41FA5}">
                      <a16:colId xmlns:a16="http://schemas.microsoft.com/office/drawing/2014/main" val="1537079576"/>
                    </a:ext>
                  </a:extLst>
                </a:gridCol>
              </a:tblGrid>
              <a:tr h="383622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solidFill>
                          <a:schemeClr val="tx1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41261"/>
                  </a:ext>
                </a:extLst>
              </a:tr>
              <a:tr h="5627678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spc="0" baseline="0" dirty="0" smtClean="0">
                          <a:latin typeface="Roboto Light" panose="020B0604020202020204" charset="0"/>
                          <a:ea typeface="Roboto Light" panose="020B0604020202020204" charset="0"/>
                          <a:cs typeface="Roboto Light" panose="02000000000000000000" pitchFamily="2" charset="0"/>
                        </a:rPr>
                        <a:t>Директор института 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1" spc="0" baseline="0" dirty="0" smtClean="0">
                          <a:latin typeface="Roboto Light" panose="020B0604020202020204" charset="0"/>
                          <a:ea typeface="Roboto Light" panose="020B0604020202020204" charset="0"/>
                          <a:cs typeface="Roboto Light" panose="02000000000000000000" pitchFamily="2" charset="0"/>
                        </a:rPr>
                        <a:t>Татарникова Татьяна Михайловна,</a:t>
                      </a:r>
                      <a:r>
                        <a:rPr lang="ru-RU" sz="1500" spc="0" baseline="0" dirty="0" smtClean="0">
                          <a:latin typeface="Roboto Light" panose="020B0604020202020204" charset="0"/>
                          <a:ea typeface="Roboto Light" panose="020B0604020202020204" charset="0"/>
                          <a:cs typeface="Roboto Light" panose="02000000000000000000" pitchFamily="2" charset="0"/>
                        </a:rPr>
                        <a:t> доктор технических наук, профессор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i="0" spc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ул. Б. Морская 67, ауд. 52-36,</a:t>
                      </a:r>
                      <a:endParaRPr lang="ru-RU" sz="1500" spc="0" baseline="0" dirty="0" smtClean="0">
                        <a:latin typeface="Roboto Light" panose="020B0604020202020204" charset="0"/>
                        <a:ea typeface="Roboto Light" panose="020B0604020202020204" charset="0"/>
                        <a:cs typeface="Roboto Light" panose="02000000000000000000" pitchFamily="2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i="0" spc="0" baseline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Телефон: (812) 312-24-14, (812) 494-70-40</a:t>
                      </a:r>
                      <a:r>
                        <a:rPr lang="ru-RU" sz="1500" spc="0" baseline="0" dirty="0" smtClean="0">
                          <a:latin typeface="Roboto Light" panose="020B0604020202020204" charset="0"/>
                          <a:ea typeface="Roboto Light" panose="020B0604020202020204" charset="0"/>
                        </a:rPr>
                        <a:t/>
                      </a:r>
                      <a:br>
                        <a:rPr lang="ru-RU" sz="1500" spc="0" baseline="0" dirty="0" smtClean="0">
                          <a:latin typeface="Roboto Light" panose="020B0604020202020204" charset="0"/>
                          <a:ea typeface="Roboto Light" panose="020B0604020202020204" charset="0"/>
                        </a:rPr>
                      </a:br>
                      <a:r>
                        <a:rPr lang="ru-RU" sz="1500" b="0" i="0" spc="0" baseline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Эл. почта: </a:t>
                      </a:r>
                      <a:r>
                        <a:rPr lang="ru-RU" sz="1500" b="0" i="0" u="none" strike="noStrike" spc="0" baseline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  <a:hlinkClick r:id="rId2"/>
                        </a:rPr>
                        <a:t>dek4@guap.ru</a:t>
                      </a:r>
                      <a:endParaRPr lang="ru-RU" sz="15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5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1" i="0" spc="0" baseline="0" dirty="0" smtClean="0">
                          <a:solidFill>
                            <a:schemeClr val="tx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Деканат младших курсов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i="0" spc="0" baseline="0" dirty="0" smtClean="0">
                          <a:solidFill>
                            <a:schemeClr val="tx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ул. Гастелло , 15, ауд. 13-06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i="0" spc="0" baseline="0" dirty="0" smtClean="0">
                          <a:solidFill>
                            <a:schemeClr val="tx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Телефон: (812) 708-39-43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i="0" spc="0" baseline="0" dirty="0" smtClean="0">
                          <a:solidFill>
                            <a:schemeClr val="tx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Эл. почта: </a:t>
                      </a:r>
                      <a:r>
                        <a:rPr lang="ru-RU" sz="1500" b="0" i="0" u="none" strike="noStrike" spc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  <a:hlinkClick r:id="rId3"/>
                        </a:rPr>
                        <a:t>dek4</a:t>
                      </a:r>
                      <a:r>
                        <a:rPr lang="en-US" sz="1500" b="0" i="0" u="none" strike="noStrike" spc="0" dirty="0" err="1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  <a:hlinkClick r:id="rId3"/>
                        </a:rPr>
                        <a:t>gast</a:t>
                      </a:r>
                      <a:r>
                        <a:rPr lang="ru-RU" sz="1500" b="0" i="0" u="none" strike="noStrike" spc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  <a:hlinkClick r:id="rId3"/>
                        </a:rPr>
                        <a:t>@guap.ru</a:t>
                      </a:r>
                      <a:endParaRPr lang="ru-RU" sz="1500" b="1" i="0" spc="0" baseline="0" dirty="0" smtClean="0">
                        <a:solidFill>
                          <a:schemeClr val="tx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500" b="0" i="0" u="none" strike="noStrike" spc="0" baseline="0" dirty="0" smtClean="0">
                        <a:solidFill>
                          <a:schemeClr val="tx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i="0" spc="0" baseline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Режим работы:</a:t>
                      </a:r>
                    </a:p>
                    <a:p>
                      <a:pPr marL="12700" marR="5080">
                        <a:lnSpc>
                          <a:spcPts val="2110"/>
                        </a:lnSpc>
                        <a:spcBef>
                          <a:spcPts val="65"/>
                        </a:spcBef>
                      </a:pPr>
                      <a:r>
                        <a:rPr lang="ru-RU" sz="1500" spc="0" baseline="0" dirty="0" err="1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Пн</a:t>
                      </a:r>
                      <a:r>
                        <a:rPr lang="ru-RU" sz="1500" spc="0" baseline="0" dirty="0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-Вт и </a:t>
                      </a:r>
                      <a:r>
                        <a:rPr lang="ru-RU" sz="1500" spc="0" baseline="0" dirty="0" err="1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Чт-Пт</a:t>
                      </a:r>
                      <a:r>
                        <a:rPr lang="ru-RU" sz="1500" spc="0" baseline="0" dirty="0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 - с 10:00 до 16:00</a:t>
                      </a:r>
                    </a:p>
                    <a:p>
                      <a:pPr marL="12700" marR="5080">
                        <a:lnSpc>
                          <a:spcPts val="2110"/>
                        </a:lnSpc>
                        <a:spcBef>
                          <a:spcPts val="65"/>
                        </a:spcBef>
                      </a:pPr>
                      <a:r>
                        <a:rPr lang="ru-RU" sz="1500" spc="0" baseline="0" dirty="0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Ср - с 10:00 до 19:00</a:t>
                      </a:r>
                    </a:p>
                    <a:p>
                      <a:pPr marL="12700">
                        <a:lnSpc>
                          <a:spcPts val="2030"/>
                        </a:lnSpc>
                      </a:pPr>
                      <a:endParaRPr lang="ru-RU" sz="1500" spc="0" baseline="0" dirty="0" smtClean="0">
                        <a:solidFill>
                          <a:srgbClr val="FF0000"/>
                        </a:solidFill>
                        <a:latin typeface="Roboto Light" panose="020B0604020202020204" charset="0"/>
                        <a:ea typeface="Roboto Light" panose="020B0604020202020204" charset="0"/>
                        <a:cs typeface="Microsoft Sans Serif"/>
                      </a:endParaRPr>
                    </a:p>
                    <a:p>
                      <a:pPr marL="12700">
                        <a:lnSpc>
                          <a:spcPts val="2030"/>
                        </a:lnSpc>
                      </a:pPr>
                      <a:endParaRPr lang="ru-RU" sz="1500" spc="0" baseline="0" dirty="0" smtClean="0">
                        <a:solidFill>
                          <a:srgbClr val="FF0000"/>
                        </a:solidFill>
                        <a:latin typeface="Roboto Light" panose="020B0604020202020204" charset="0"/>
                        <a:ea typeface="Roboto Light" panose="020B0604020202020204" charset="0"/>
                        <a:cs typeface="Microsoft Sans Serif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1" i="0" spc="0" baseline="0" dirty="0" smtClean="0">
                          <a:solidFill>
                            <a:schemeClr val="tx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Деканат старших курсов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i="0" spc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ул. Б. Морская 67, ауд. 52-36,</a:t>
                      </a:r>
                      <a:r>
                        <a:rPr lang="ru-RU" sz="1500" spc="0" dirty="0" smtClean="0">
                          <a:latin typeface="Roboto Light" panose="020B0604020202020204" charset="0"/>
                          <a:ea typeface="Roboto Light" panose="020B0604020202020204" charset="0"/>
                        </a:rPr>
                        <a:t/>
                      </a:r>
                      <a:br>
                        <a:rPr lang="ru-RU" sz="1500" spc="0" dirty="0" smtClean="0">
                          <a:latin typeface="Roboto Light" panose="020B0604020202020204" charset="0"/>
                          <a:ea typeface="Roboto Light" panose="020B0604020202020204" charset="0"/>
                        </a:rPr>
                      </a:br>
                      <a:r>
                        <a:rPr lang="ru-RU" sz="1500" b="0" i="0" spc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Телефон: (812) 494-70-40; (812) 312-24-14</a:t>
                      </a:r>
                      <a:r>
                        <a:rPr lang="ru-RU" sz="1500" spc="0" dirty="0" smtClean="0">
                          <a:latin typeface="Roboto Light" panose="020B0604020202020204" charset="0"/>
                          <a:ea typeface="Roboto Light" panose="020B0604020202020204" charset="0"/>
                        </a:rPr>
                        <a:t/>
                      </a:r>
                      <a:br>
                        <a:rPr lang="ru-RU" sz="1500" spc="0" dirty="0" smtClean="0">
                          <a:latin typeface="Roboto Light" panose="020B0604020202020204" charset="0"/>
                          <a:ea typeface="Roboto Light" panose="020B0604020202020204" charset="0"/>
                        </a:rPr>
                      </a:br>
                      <a:r>
                        <a:rPr lang="ru-RU" sz="1500" b="0" i="0" spc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Эл. почта: </a:t>
                      </a:r>
                      <a:r>
                        <a:rPr lang="ru-RU" sz="1500" b="0" i="0" u="none" strike="noStrike" spc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  <a:hlinkClick r:id="rId2"/>
                        </a:rPr>
                        <a:t>dek4@guap.ru</a:t>
                      </a:r>
                      <a:endParaRPr lang="ru-RU" sz="1500" b="1" i="0" spc="0" baseline="0" dirty="0" smtClean="0">
                        <a:solidFill>
                          <a:schemeClr val="tx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5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i="0" spc="0" baseline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</a:rPr>
                        <a:t>Режим работы:</a:t>
                      </a:r>
                    </a:p>
                    <a:p>
                      <a:pPr marL="12700" marR="5080">
                        <a:lnSpc>
                          <a:spcPts val="2110"/>
                        </a:lnSpc>
                        <a:spcBef>
                          <a:spcPts val="65"/>
                        </a:spcBef>
                      </a:pPr>
                      <a:r>
                        <a:rPr lang="ru-RU" sz="1500" spc="0" baseline="0" dirty="0" err="1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Пн</a:t>
                      </a:r>
                      <a:r>
                        <a:rPr lang="ru-RU" sz="1500" spc="0" baseline="0" dirty="0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-Ср и </a:t>
                      </a:r>
                      <a:r>
                        <a:rPr lang="ru-RU" sz="1500" spc="0" baseline="0" dirty="0" err="1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Пт</a:t>
                      </a:r>
                      <a:r>
                        <a:rPr lang="ru-RU" sz="1500" spc="0" baseline="0" dirty="0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 - с 10:00 до 16:00</a:t>
                      </a:r>
                    </a:p>
                    <a:p>
                      <a:pPr marL="12700" marR="5080">
                        <a:lnSpc>
                          <a:spcPts val="2110"/>
                        </a:lnSpc>
                        <a:spcBef>
                          <a:spcPts val="65"/>
                        </a:spcBef>
                      </a:pPr>
                      <a:r>
                        <a:rPr lang="ru-RU" sz="1500" spc="0" baseline="0" dirty="0" err="1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Чт</a:t>
                      </a:r>
                      <a:r>
                        <a:rPr lang="ru-RU" sz="1500" spc="0" baseline="0" dirty="0" smtClean="0">
                          <a:solidFill>
                            <a:schemeClr val="tx1"/>
                          </a:solidFill>
                          <a:latin typeface="Roboto Light" panose="020B0604020202020204" charset="0"/>
                          <a:ea typeface="Roboto Light" panose="020B0604020202020204" charset="0"/>
                          <a:cs typeface="Microsoft Sans Serif"/>
                        </a:rPr>
                        <a:t> - с 10:00 до 19:00</a:t>
                      </a:r>
                      <a:endParaRPr lang="ru-RU" sz="1500" spc="0" dirty="0">
                        <a:solidFill>
                          <a:srgbClr val="FF0000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645377"/>
                  </a:ext>
                </a:extLst>
              </a:tr>
              <a:tr h="672932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endParaRPr lang="ru-RU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ru-RU" sz="200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64320"/>
                  </a:ext>
                </a:extLst>
              </a:tr>
            </a:tbl>
          </a:graphicData>
        </a:graphic>
      </p:graphicFrame>
      <p:sp>
        <p:nvSpPr>
          <p:cNvPr id="5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 txBox="1">
            <a:spLocks noGrp="1"/>
          </p:cNvSpPr>
          <p:nvPr>
            <p:ph type="title"/>
          </p:nvPr>
        </p:nvSpPr>
        <p:spPr>
          <a:xfrm>
            <a:off x="590473" y="360003"/>
            <a:ext cx="10668300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Адрес, контакты и режим работы </a:t>
            </a: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деканата</a:t>
            </a: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05" y="3277369"/>
            <a:ext cx="3864594" cy="126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6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14024"/>
              </p:ext>
            </p:extLst>
          </p:nvPr>
        </p:nvGraphicFramePr>
        <p:xfrm>
          <a:off x="6041059" y="1939124"/>
          <a:ext cx="74034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426">
                  <a:extLst>
                    <a:ext uri="{9D8B030D-6E8A-4147-A177-3AD203B41FA5}">
                      <a16:colId xmlns:a16="http://schemas.microsoft.com/office/drawing/2014/main" val="357421178"/>
                    </a:ext>
                  </a:extLst>
                </a:gridCol>
                <a:gridCol w="1811053">
                  <a:extLst>
                    <a:ext uri="{9D8B030D-6E8A-4147-A177-3AD203B41FA5}">
                      <a16:colId xmlns:a16="http://schemas.microsoft.com/office/drawing/2014/main" val="1537079576"/>
                    </a:ext>
                  </a:extLst>
                </a:gridCol>
              </a:tblGrid>
              <a:tr h="343982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dirty="0">
                        <a:solidFill>
                          <a:schemeClr val="tx1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41261"/>
                  </a:ext>
                </a:extLst>
              </a:tr>
              <a:tr h="1142411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spc="0" baseline="0" dirty="0" smtClean="0">
                          <a:latin typeface="Roboto Light" panose="020B0604020202020204" charset="0"/>
                          <a:ea typeface="Roboto Light" panose="020B0604020202020204" charset="0"/>
                          <a:cs typeface="Roboto Light" panose="02000000000000000000" pitchFamily="2" charset="0"/>
                        </a:rPr>
                        <a:t>Чат для студентов </a:t>
                      </a:r>
                      <a:r>
                        <a:rPr lang="ru-RU" sz="1800" b="1" spc="0" baseline="0" dirty="0" smtClean="0">
                          <a:latin typeface="Roboto Light" panose="020B0604020202020204" charset="0"/>
                          <a:ea typeface="Roboto Light" panose="020B0604020202020204" charset="0"/>
                          <a:cs typeface="Roboto Light" panose="02000000000000000000" pitchFamily="2" charset="0"/>
                        </a:rPr>
                        <a:t>очно-заочной</a:t>
                      </a:r>
                      <a:r>
                        <a:rPr lang="ru-RU" sz="1800" spc="0" baseline="0" dirty="0" smtClean="0">
                          <a:latin typeface="Roboto Light" panose="020B0604020202020204" charset="0"/>
                          <a:ea typeface="Roboto Light" panose="020B0604020202020204" charset="0"/>
                          <a:cs typeface="Roboto Light" panose="02000000000000000000" pitchFamily="2" charset="0"/>
                        </a:rPr>
                        <a:t> формы обучения</a:t>
                      </a:r>
                      <a:endParaRPr lang="ru-RU" sz="18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spc="0" baseline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  <a:hlinkClick r:id="rId2"/>
                        </a:rPr>
                        <a:t>https://t.me/+AkWGtD9YjYBiODUy</a:t>
                      </a:r>
                      <a:endParaRPr lang="ru-RU" sz="18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645377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endParaRPr lang="ru-RU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ru-RU" sz="200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64320"/>
                  </a:ext>
                </a:extLst>
              </a:tr>
            </a:tbl>
          </a:graphicData>
        </a:graphic>
      </p:graphicFrame>
      <p:sp>
        <p:nvSpPr>
          <p:cNvPr id="5" name="object 17"/>
          <p:cNvSpPr/>
          <p:nvPr/>
        </p:nvSpPr>
        <p:spPr>
          <a:xfrm>
            <a:off x="590473" y="885825"/>
            <a:ext cx="12227795" cy="152400"/>
          </a:xfrm>
          <a:custGeom>
            <a:avLst/>
            <a:gdLst/>
            <a:ahLst/>
            <a:cxnLst/>
            <a:rect l="l" t="t" r="r" b="b"/>
            <a:pathLst>
              <a:path w="9178290">
                <a:moveTo>
                  <a:pt x="0" y="0"/>
                </a:moveTo>
                <a:lnTo>
                  <a:pt x="9178150" y="0"/>
                </a:lnTo>
              </a:path>
            </a:pathLst>
          </a:custGeom>
          <a:ln w="25349">
            <a:gradFill>
              <a:gsLst>
                <a:gs pos="100000">
                  <a:srgbClr val="004F9F"/>
                </a:gs>
                <a:gs pos="0">
                  <a:srgbClr val="CB1357"/>
                </a:gs>
              </a:gsLst>
              <a:lin ang="1080000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 txBox="1">
            <a:spLocks noGrp="1"/>
          </p:cNvSpPr>
          <p:nvPr>
            <p:ph type="title"/>
          </p:nvPr>
        </p:nvSpPr>
        <p:spPr>
          <a:xfrm>
            <a:off x="590473" y="360003"/>
            <a:ext cx="10668300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rgbClr val="004F9F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Roboto Medium" panose="02000000000000000000" pitchFamily="2" charset="0"/>
              </a:rPr>
              <a:t>Чаты для студентов с деканатом</a:t>
            </a:r>
            <a:endParaRPr lang="ru-RU" sz="2400" dirty="0">
              <a:solidFill>
                <a:srgbClr val="004F9F"/>
              </a:solidFill>
              <a:latin typeface="Century Gothic" panose="020B0502020202020204" pitchFamily="34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669" y="309910"/>
            <a:ext cx="1454943" cy="57591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37" y="991002"/>
            <a:ext cx="2914736" cy="2914736"/>
          </a:xfrm>
          <a:prstGeom prst="rect">
            <a:avLst/>
          </a:prstGeom>
        </p:spPr>
      </p:pic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898498"/>
              </p:ext>
            </p:extLst>
          </p:nvPr>
        </p:nvGraphicFramePr>
        <p:xfrm>
          <a:off x="1871409" y="4636387"/>
          <a:ext cx="7403479" cy="2169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426">
                  <a:extLst>
                    <a:ext uri="{9D8B030D-6E8A-4147-A177-3AD203B41FA5}">
                      <a16:colId xmlns:a16="http://schemas.microsoft.com/office/drawing/2014/main" val="357421178"/>
                    </a:ext>
                  </a:extLst>
                </a:gridCol>
                <a:gridCol w="1811053">
                  <a:extLst>
                    <a:ext uri="{9D8B030D-6E8A-4147-A177-3AD203B41FA5}">
                      <a16:colId xmlns:a16="http://schemas.microsoft.com/office/drawing/2014/main" val="1537079576"/>
                    </a:ext>
                  </a:extLst>
                </a:gridCol>
              </a:tblGrid>
              <a:tr h="202318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solidFill>
                          <a:schemeClr val="tx1"/>
                        </a:solidFill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41261"/>
                  </a:ext>
                </a:extLst>
              </a:tr>
              <a:tr h="1315968">
                <a:tc gridSpan="2"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spc="0" baseline="0" dirty="0" smtClean="0">
                          <a:latin typeface="Roboto Light" panose="020B0604020202020204" charset="0"/>
                          <a:ea typeface="Roboto Light" panose="020B0604020202020204" charset="0"/>
                          <a:cs typeface="Roboto Light" panose="02000000000000000000" pitchFamily="2" charset="0"/>
                        </a:rPr>
                        <a:t>Чат для студентов </a:t>
                      </a:r>
                      <a:r>
                        <a:rPr lang="ru-RU" sz="1800" b="1" spc="0" baseline="0" dirty="0" smtClean="0">
                          <a:latin typeface="Roboto Light" panose="020B0604020202020204" charset="0"/>
                          <a:ea typeface="Roboto Light" panose="020B0604020202020204" charset="0"/>
                          <a:cs typeface="Roboto Light" panose="02000000000000000000" pitchFamily="2" charset="0"/>
                        </a:rPr>
                        <a:t>заочной</a:t>
                      </a:r>
                      <a:r>
                        <a:rPr lang="ru-RU" sz="1800" spc="0" baseline="0" dirty="0" smtClean="0">
                          <a:latin typeface="Roboto Light" panose="020B0604020202020204" charset="0"/>
                          <a:ea typeface="Roboto Light" panose="020B0604020202020204" charset="0"/>
                          <a:cs typeface="Roboto Light" panose="02000000000000000000" pitchFamily="2" charset="0"/>
                        </a:rPr>
                        <a:t> формы обучения</a:t>
                      </a:r>
                      <a:endParaRPr lang="ru-RU" sz="18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spc="0" baseline="0" dirty="0" smtClean="0">
                          <a:solidFill>
                            <a:schemeClr val="dk1"/>
                          </a:solidFill>
                          <a:effectLst/>
                          <a:latin typeface="Roboto Light" panose="020B0604020202020204" charset="0"/>
                          <a:ea typeface="Roboto Light" panose="020B0604020202020204" charset="0"/>
                          <a:cs typeface="+mn-cs"/>
                          <a:hlinkClick r:id="rId5"/>
                        </a:rPr>
                        <a:t>https://t.me/+bZ7_EZsDlnAxN2Ey</a:t>
                      </a:r>
                      <a:endParaRPr lang="ru-RU" sz="18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500" b="0" i="0" u="none" strike="noStrike" spc="0" baseline="0" dirty="0" smtClean="0">
                        <a:solidFill>
                          <a:schemeClr val="dk1"/>
                        </a:solidFill>
                        <a:effectLst/>
                        <a:latin typeface="Roboto Light" panose="020B0604020202020204" charset="0"/>
                        <a:ea typeface="Roboto Light" panose="020B0604020202020204" charset="0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645377"/>
                  </a:ext>
                </a:extLst>
              </a:tr>
              <a:tr h="220994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endParaRPr lang="ru-RU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ru-RU" sz="2000" dirty="0"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64320"/>
                  </a:ext>
                </a:extLst>
              </a:tr>
            </a:tbl>
          </a:graphicData>
        </a:graphic>
      </p:graphicFrame>
      <p:sp>
        <p:nvSpPr>
          <p:cNvPr id="4" name="Стрелка влево 3"/>
          <p:cNvSpPr/>
          <p:nvPr/>
        </p:nvSpPr>
        <p:spPr>
          <a:xfrm>
            <a:off x="4239413" y="2446354"/>
            <a:ext cx="1333736" cy="39695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413" y="4086567"/>
            <a:ext cx="2909009" cy="2909009"/>
          </a:xfrm>
          <a:prstGeom prst="rect">
            <a:avLst/>
          </a:prstGeom>
        </p:spPr>
      </p:pic>
      <p:sp>
        <p:nvSpPr>
          <p:cNvPr id="11" name="Стрелка вправо 10"/>
          <p:cNvSpPr/>
          <p:nvPr/>
        </p:nvSpPr>
        <p:spPr>
          <a:xfrm>
            <a:off x="7514357" y="5361051"/>
            <a:ext cx="1313318" cy="364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2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3411</TotalTime>
  <Words>1074</Words>
  <Application>Microsoft Office PowerPoint</Application>
  <PresentationFormat>Произвольный</PresentationFormat>
  <Paragraphs>174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Calibri</vt:lpstr>
      <vt:lpstr>Roboto</vt:lpstr>
      <vt:lpstr>Microsoft Sans Serif</vt:lpstr>
      <vt:lpstr>Roboto Light</vt:lpstr>
      <vt:lpstr>Arial MT</vt:lpstr>
      <vt:lpstr>Century Gothic</vt:lpstr>
      <vt:lpstr>Arial</vt:lpstr>
      <vt:lpstr>Roboto Medium</vt:lpstr>
      <vt:lpstr>Office Theme</vt:lpstr>
      <vt:lpstr>Презентация PowerPoint</vt:lpstr>
      <vt:lpstr>Направления подготовки</vt:lpstr>
      <vt:lpstr>Очно-заочная форма обучения</vt:lpstr>
      <vt:lpstr>Заочная форма обучения</vt:lpstr>
      <vt:lpstr>Личный кабинет обучающегося</vt:lpstr>
      <vt:lpstr>Личный кабинет обучающегося и главная страница</vt:lpstr>
      <vt:lpstr>Личный кабинет обучающегося и главная страница</vt:lpstr>
      <vt:lpstr>Личный кабинет обучающегося и СДО</vt:lpstr>
      <vt:lpstr> Оформление электронного пропуска и студенческого билета </vt:lpstr>
      <vt:lpstr> Ускоренное обучение в ГУАП </vt:lpstr>
      <vt:lpstr> Переаттестация дисциплин в ГУАП </vt:lpstr>
      <vt:lpstr>Адрес, контакты и режим работы деканата</vt:lpstr>
      <vt:lpstr>Чаты для студентов с деканатом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Сергей</dc:creator>
  <cp:lastModifiedBy>Дарья С</cp:lastModifiedBy>
  <cp:revision>287</cp:revision>
  <cp:lastPrinted>2022-04-01T08:21:54Z</cp:lastPrinted>
  <dcterms:created xsi:type="dcterms:W3CDTF">2017-12-17T07:34:47Z</dcterms:created>
  <dcterms:modified xsi:type="dcterms:W3CDTF">2025-08-28T12:46:28Z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2017-12-07T00:00:00Z</vt:filetime>
  </property>
  <property fmtid="{D5CDD505-2E9C-101B-9397-08002B2CF9AE}" pid="3" name="Creator">
    <vt:lpwstr>Adobe InDesign CC 13.0 (Windows)</vt:lpwstr>
  </property>
  <property fmtid="{D5CDD505-2E9C-101B-9397-08002B2CF9AE}" pid="4" name="LastSaved">
    <vt:filetime>2017-12-17T00:00:00Z</vt:filetime>
  </property>
</Properties>
</file>